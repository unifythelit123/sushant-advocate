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0E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737360" cy="1481328"/>
          </a:xfrm>
          <a:prstGeom prst="rect">
            <a:avLst/>
          </a:prstGeom>
          <a:solidFill>
            <a:srgbClr val="082944"/>
          </a:solidFill>
          <a:ln/>
        </p:spPr>
      </p:sp>
      <p:pic>
        <p:nvPicPr>
          <p:cNvPr id="4" name="Image 0" descr="passport_te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25603"/>
            <a:ext cx="1115568" cy="143012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83080" y="1645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SUSHANT SINGH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801368" y="6675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E7D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  |  LITIGATION &amp; ARBITRATION COUNSEL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801368" y="9966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3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 Court of India   •   Delhi High Court   •   District Courts   •   Tribunals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464040" y="530352"/>
            <a:ext cx="2395728" cy="384048"/>
          </a:xfrm>
          <a:prstGeom prst="roundRect">
            <a:avLst>
              <a:gd name="adj" fmla="val 50000"/>
            </a:avLst>
          </a:prstGeom>
          <a:solidFill>
            <a:srgbClr val="A9843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464040" y="53035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08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 OF LEGAL PRACTICE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2608" y="1609344"/>
            <a:ext cx="2563724" cy="310896"/>
          </a:xfrm>
          <a:prstGeom prst="roundRect">
            <a:avLst>
              <a:gd name="adj" fmla="val 50000"/>
            </a:avLst>
          </a:prstGeom>
          <a:solidFill>
            <a:srgbClr val="EAF0F4"/>
          </a:solidFill>
          <a:ln w="9525">
            <a:solidFill>
              <a:srgbClr val="D5E1E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92608" y="1609344"/>
            <a:ext cx="2563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Panel-A Counsel, UOI — Supreme Court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984348" y="1609344"/>
            <a:ext cx="1925129" cy="310896"/>
          </a:xfrm>
          <a:prstGeom prst="roundRect">
            <a:avLst>
              <a:gd name="adj" fmla="val 50000"/>
            </a:avLst>
          </a:prstGeom>
          <a:solidFill>
            <a:srgbClr val="EAF0F4"/>
          </a:solidFill>
          <a:ln w="9525">
            <a:solidFill>
              <a:srgbClr val="D5E1E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84348" y="1609344"/>
            <a:ext cx="192512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Panel Counsel — CAT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37494" y="1609344"/>
            <a:ext cx="2116708" cy="310896"/>
          </a:xfrm>
          <a:prstGeom prst="roundRect">
            <a:avLst>
              <a:gd name="adj" fmla="val 50000"/>
            </a:avLst>
          </a:prstGeom>
          <a:solidFill>
            <a:srgbClr val="EAF0F4"/>
          </a:solidFill>
          <a:ln w="9525">
            <a:solidFill>
              <a:srgbClr val="D5E1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37494" y="1609344"/>
            <a:ext cx="2116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Counsel, MCD — Delhi HC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282218" y="1609344"/>
            <a:ext cx="2372146" cy="310896"/>
          </a:xfrm>
          <a:prstGeom prst="roundRect">
            <a:avLst>
              <a:gd name="adj" fmla="val 50000"/>
            </a:avLst>
          </a:prstGeom>
          <a:solidFill>
            <a:srgbClr val="E7D9BD"/>
          </a:solidFill>
          <a:ln w="9525">
            <a:solidFill>
              <a:srgbClr val="DCC79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82218" y="1609344"/>
            <a:ext cx="2372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4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LL.M., SOAS, University of London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782379" y="1609344"/>
            <a:ext cx="2116708" cy="310896"/>
          </a:xfrm>
          <a:prstGeom prst="roundRect">
            <a:avLst>
              <a:gd name="adj" fmla="val 50000"/>
            </a:avLst>
          </a:prstGeom>
          <a:solidFill>
            <a:srgbClr val="E7D9BD"/>
          </a:solidFill>
          <a:ln w="9525">
            <a:solidFill>
              <a:srgbClr val="DCC79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782379" y="1609344"/>
            <a:ext cx="2116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4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B.A. LL.B. (Hons.), NLU Delhi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292608" y="2103120"/>
            <a:ext cx="37225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8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250" b="1" spc="50" kern="0" dirty="0">
                <a:solidFill>
                  <a:srgbClr val="0829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PROFILE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292608" y="2395728"/>
            <a:ext cx="37225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Litigation and arbitration counsel with a decade of practice before the Supreme Court of India, Delhi High Court, District Courts and specialised tribunals — across constitutional, civil, commercial, property, arbitration, land acquisition, infrastructure, education and service law matters. Combines courtroom advocacy with rigorous research, strategic case preparation and precise drafting.</a:t>
            </a:r>
            <a:endParaRPr lang="en-US" sz="930" dirty="0"/>
          </a:p>
        </p:txBody>
      </p:sp>
      <p:sp>
        <p:nvSpPr>
          <p:cNvPr id="22" name="Text 19"/>
          <p:cNvSpPr txBox="1"/>
          <p:nvPr/>
        </p:nvSpPr>
        <p:spPr>
          <a:xfrm>
            <a:off x="292608" y="3694176"/>
            <a:ext cx="37225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8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250" b="1" spc="50" kern="0" dirty="0">
                <a:solidFill>
                  <a:srgbClr val="0829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STANDING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292608" y="3986784"/>
            <a:ext cx="372252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Panel-A Counsel, Union of India, Supreme Court of India</a:t>
            </a:r>
            <a:endParaRPr lang="en-US" sz="900" dirty="0"/>
          </a:p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Panel Counsel, Union of India, Central Administrative Tribunal</a:t>
            </a:r>
            <a:endParaRPr lang="en-US" sz="900" dirty="0"/>
          </a:p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Counsel, Municipal Corporation of Delhi, Delhi High Court</a:t>
            </a:r>
            <a:endParaRPr lang="en-US" sz="900" dirty="0"/>
          </a:p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Counsel — Supreme Court of India &amp; Delhi High Court</a:t>
            </a:r>
            <a:endParaRPr lang="en-US" sz="900" dirty="0"/>
          </a:p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practice: District Courts (Delhi-NCR), CAT, NGT, DRT, Arbitration Tribunals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292608" y="5715000"/>
            <a:ext cx="37225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8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250" b="1" spc="50" kern="0" dirty="0">
                <a:solidFill>
                  <a:srgbClr val="0829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QUALIFICATIONS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292608" y="6007608"/>
            <a:ext cx="372252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LL.M., SOAS, University of London — Human Rights, Conflict and Justice</a:t>
            </a:r>
            <a:endParaRPr lang="en-US" sz="900" dirty="0"/>
          </a:p>
          <a:p>
            <a:pPr marL="139700" indent="-139700">
              <a:lnSpc>
                <a:spcPct val="102000"/>
              </a:lnSpc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B.A. LL.B. (Hons.), National Law University Delhi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4234586" y="2103120"/>
            <a:ext cx="37225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8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indent="0" marL="0">
              <a:buNone/>
            </a:pPr>
            <a:r>
              <a:rPr lang="en-US" sz="1250" b="1" spc="50" kern="0" dirty="0">
                <a:solidFill>
                  <a:srgbClr val="0829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PRACTICE AREAS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234586" y="2395728"/>
            <a:ext cx="1797253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326026" y="2432304"/>
            <a:ext cx="16143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b="1" dirty="0">
                <a:solidFill>
                  <a:srgbClr val="08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&amp; Public Law</a:t>
            </a:r>
            <a:endParaRPr lang="en-US" sz="86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74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Writs, statutory challenges, public law remedies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6159856" y="2395728"/>
            <a:ext cx="1797253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251296" y="2432304"/>
            <a:ext cx="16143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b="1" dirty="0">
                <a:solidFill>
                  <a:srgbClr val="08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&amp; Commercial Litigation</a:t>
            </a:r>
            <a:endParaRPr lang="en-US" sz="86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74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Suits, injunctions, recovery, contractual disputes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4234586" y="2980944"/>
            <a:ext cx="1797253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26026" y="3017520"/>
            <a:ext cx="16143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b="1" dirty="0">
                <a:solidFill>
                  <a:srgbClr val="08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Arbitration &amp; Contract Disputes</a:t>
            </a:r>
            <a:endParaRPr lang="en-US" sz="86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74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A&amp;C Act — Sections 9, 11 &amp; 34 proceedings</a:t>
            </a:r>
            <a:endParaRPr lang="en-US" sz="860" dirty="0"/>
          </a:p>
        </p:txBody>
      </p:sp>
      <p:sp>
        <p:nvSpPr>
          <p:cNvPr id="33" name="Shape 30"/>
          <p:cNvSpPr/>
          <p:nvPr/>
        </p:nvSpPr>
        <p:spPr>
          <a:xfrm>
            <a:off x="6159856" y="2980944"/>
            <a:ext cx="1797253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251296" y="3017520"/>
            <a:ext cx="16143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b="1" dirty="0">
                <a:solidFill>
                  <a:srgbClr val="08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&amp; Real Estate</a:t>
            </a:r>
            <a:endParaRPr lang="en-US" sz="86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74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Landlord–tenant, possession, recovery, injunctions</a:t>
            </a:r>
            <a:endParaRPr lang="en-US" sz="860" dirty="0"/>
          </a:p>
        </p:txBody>
      </p:sp>
      <p:sp>
        <p:nvSpPr>
          <p:cNvPr id="35" name="Shape 32"/>
          <p:cNvSpPr/>
          <p:nvPr/>
        </p:nvSpPr>
        <p:spPr>
          <a:xfrm>
            <a:off x="4234586" y="3566160"/>
            <a:ext cx="1797253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326026" y="3602736"/>
            <a:ext cx="16143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b="1" dirty="0">
                <a:solidFill>
                  <a:srgbClr val="08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Acquisition &amp; Compensation</a:t>
            </a:r>
            <a:endParaRPr lang="en-US" sz="86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74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disputes, reference proceedings</a:t>
            </a:r>
            <a:endParaRPr lang="en-US" sz="860" dirty="0"/>
          </a:p>
        </p:txBody>
      </p:sp>
      <p:sp>
        <p:nvSpPr>
          <p:cNvPr id="37" name="Shape 34"/>
          <p:cNvSpPr/>
          <p:nvPr/>
        </p:nvSpPr>
        <p:spPr>
          <a:xfrm>
            <a:off x="6159856" y="3566160"/>
            <a:ext cx="1797253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251296" y="3602736"/>
            <a:ext cx="16143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b="1" dirty="0">
                <a:solidFill>
                  <a:srgbClr val="08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Disputes</a:t>
            </a:r>
            <a:endParaRPr lang="en-US" sz="86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74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contracts, delay &amp; escalation claims</a:t>
            </a:r>
            <a:endParaRPr lang="en-US" sz="860" dirty="0"/>
          </a:p>
        </p:txBody>
      </p:sp>
      <p:sp>
        <p:nvSpPr>
          <p:cNvPr id="39" name="Shape 36"/>
          <p:cNvSpPr/>
          <p:nvPr/>
        </p:nvSpPr>
        <p:spPr>
          <a:xfrm>
            <a:off x="4234586" y="4151376"/>
            <a:ext cx="1797253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26026" y="4187952"/>
            <a:ext cx="16143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b="1" dirty="0">
                <a:solidFill>
                  <a:srgbClr val="08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Law &amp; Human Rights</a:t>
            </a:r>
            <a:endParaRPr lang="en-US" sz="86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74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Admissions, scholarships, access to education</a:t>
            </a:r>
            <a:endParaRPr lang="en-US" sz="860" dirty="0"/>
          </a:p>
        </p:txBody>
      </p:sp>
      <p:sp>
        <p:nvSpPr>
          <p:cNvPr id="41" name="Shape 38"/>
          <p:cNvSpPr/>
          <p:nvPr/>
        </p:nvSpPr>
        <p:spPr>
          <a:xfrm>
            <a:off x="6159856" y="4151376"/>
            <a:ext cx="1797253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251296" y="4187952"/>
            <a:ext cx="16143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b="1" dirty="0">
                <a:solidFill>
                  <a:srgbClr val="08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&amp; Administrative Law</a:t>
            </a:r>
            <a:endParaRPr lang="en-US" sz="86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74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Disciplinary, pension &amp; retiral matters</a:t>
            </a:r>
            <a:endParaRPr lang="en-US" sz="860" dirty="0"/>
          </a:p>
        </p:txBody>
      </p:sp>
      <p:sp>
        <p:nvSpPr>
          <p:cNvPr id="43" name="Text 40"/>
          <p:cNvSpPr txBox="1"/>
          <p:nvPr/>
        </p:nvSpPr>
        <p:spPr>
          <a:xfrm>
            <a:off x="4234586" y="4901184"/>
            <a:ext cx="37225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8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indent="0" marL="0">
              <a:buNone/>
            </a:pPr>
            <a:r>
              <a:rPr lang="en-US" sz="1250" b="1" spc="50" kern="0" dirty="0">
                <a:solidFill>
                  <a:srgbClr val="0829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EXPERIENCE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4234586" y="5193792"/>
            <a:ext cx="37225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— Present  — 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 &amp; Independent Counsel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SC, Delhi HC, District Courts &amp; Tribunals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4234586" y="5650992"/>
            <a:ext cx="37225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2017 — Sep 2019  — 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Lawyer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Chambers of Mr. Neeraj Dahiya, New Delhi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8176565" y="2103120"/>
            <a:ext cx="37225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8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pPr indent="0" marL="0">
              <a:buNone/>
            </a:pPr>
            <a:r>
              <a:rPr lang="en-US" sz="1250" b="1" spc="50" kern="0" dirty="0">
                <a:solidFill>
                  <a:srgbClr val="0829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LITIGATION &amp; ADVISORY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8176565" y="2395728"/>
            <a:ext cx="372252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2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suits, writ petitions, appeals, applications &amp; legal opinions</a:t>
            </a:r>
            <a:endParaRPr lang="en-US" sz="900" dirty="0"/>
          </a:p>
          <a:p>
            <a:pPr marL="139700" indent="-139700">
              <a:lnSpc>
                <a:spcPct val="102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public authorities, statutory bodies &amp; institutions</a:t>
            </a:r>
            <a:endParaRPr lang="en-US" sz="900" dirty="0"/>
          </a:p>
          <a:p>
            <a:pPr marL="139700" indent="-139700">
              <a:lnSpc>
                <a:spcPct val="102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 interpretation, enforcement &amp; dispute strategy</a:t>
            </a:r>
            <a:endParaRPr lang="en-US" sz="900" dirty="0"/>
          </a:p>
          <a:p>
            <a:pPr marL="139700" indent="-139700">
              <a:lnSpc>
                <a:spcPct val="102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Arbitral proceedings, written arguments &amp; award-related work</a:t>
            </a:r>
            <a:endParaRPr lang="en-US" sz="900" dirty="0"/>
          </a:p>
          <a:p>
            <a:pPr marL="139700" indent="-139700">
              <a:lnSpc>
                <a:spcPct val="102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Advisory: EPC agreements, MoUs, land acquisition compliance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8176565" y="3858768"/>
            <a:ext cx="37225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8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pPr indent="0" marL="0">
              <a:buNone/>
            </a:pPr>
            <a:r>
              <a:rPr lang="en-US" sz="1250" b="1" spc="50" kern="0" dirty="0">
                <a:solidFill>
                  <a:srgbClr val="0829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REPRESENTATIVE ENGAGEMENTS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8176565" y="4151376"/>
            <a:ext cx="372252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2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 before Delhi High Court — writ &amp; civil appellate matters</a:t>
            </a:r>
            <a:endParaRPr lang="en-US" sz="900" dirty="0"/>
          </a:p>
          <a:p>
            <a:pPr marL="139700" indent="-139700">
              <a:lnSpc>
                <a:spcPct val="102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of India — Supreme Court &amp; Central Admin. Tribunal</a:t>
            </a:r>
            <a:endParaRPr lang="en-US" sz="900" dirty="0"/>
          </a:p>
          <a:p>
            <a:pPr marL="139700" indent="-139700">
              <a:lnSpc>
                <a:spcPct val="102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acquisition &amp; enhanced compensation claims</a:t>
            </a:r>
            <a:endParaRPr lang="en-US" sz="900" dirty="0"/>
          </a:p>
          <a:p>
            <a:pPr marL="139700" indent="-139700">
              <a:lnSpc>
                <a:spcPct val="102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scholars — admissions, scholarships, access</a:t>
            </a:r>
            <a:endParaRPr lang="en-US" sz="900" dirty="0"/>
          </a:p>
          <a:p>
            <a:pPr marL="139700" indent="-139700">
              <a:lnSpc>
                <a:spcPct val="102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bono: property &amp; land acquisition disputes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8176565" y="5596128"/>
            <a:ext cx="3722522" cy="1060704"/>
          </a:xfrm>
          <a:prstGeom prst="rect">
            <a:avLst/>
          </a:prstGeom>
          <a:solidFill>
            <a:srgbClr val="0E3A5C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8322869" y="5669280"/>
            <a:ext cx="34299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7D9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7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8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litigation-first approach grounded in rigorous research, strong drafting and strategic advocacy — pursuing effective remedies with the highest professional standards.</a:t>
            </a:r>
            <a:endParaRPr lang="en-US" sz="17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750" b="1" spc="50" kern="0" dirty="0">
                <a:solidFill>
                  <a:srgbClr val="E7D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SUSHANT SINGH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2026-08-29T13:20:10Z</dcterms:created>
  <dcterms:modified xsi:type="dcterms:W3CDTF">2026-08-29T13:20:10Z</dcterms:modified>
</cp:coreProperties>
</file>